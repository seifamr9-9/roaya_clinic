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9" r:id="rId2"/>
    <p:sldId id="256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13F-6640-A026-1CD8D39D117C}"/>
              </c:ext>
            </c:extLst>
          </c:dPt>
          <c:dPt>
            <c:idx val="1"/>
            <c:bubble3D val="0"/>
            <c:spPr>
              <a:solidFill>
                <a:srgbClr val="0050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3F-6640-A026-1CD8D39D117C}"/>
              </c:ext>
            </c:extLst>
          </c:dPt>
          <c:dPt>
            <c:idx val="2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3F-6640-A026-1CD8D39D117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E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713F-6640-A026-1CD8D39D117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E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713F-6640-A026-1CD8D39D117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E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713F-6640-A026-1CD8D39D117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ar-E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Consultation Fee</c:v>
                </c:pt>
                <c:pt idx="1">
                  <c:v>Lab Orders</c:v>
                </c:pt>
                <c:pt idx="2">
                  <c:v>Prescriptions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13F-6640-A026-1CD8D39D11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919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 — Slide 1 (Hook):
"Let me start with a simple question —
How many times does a receptionist search for a patient file and can't find it?
How many times does a doctor get double-booked at the same time slot?
How many times does an invoice get lost or recorded incorrectly?
The answer: too often — and it costs the clinic time, patients, and money.
We built the solution —
Smart Clinic Management System.
A complete Odoo module that solves all of these problems."
[Move to next slide]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بتعريف المشروع: Smart Clinic هو Odoo module متكامل لإدارة العيادات متعددة التخصصات. بُني على Odoo 17 Community ومصمم عشان يغطي كل العمليات اليومية من تسجيل المريض لحد الفاتورة.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 — Slide 2 (Team):
"Before we dive into the details — let me introduce the team.
We are Team A — 6 students, each responsible for a different part of the project:
R1 — Manifest, Git setup, demo data, and README.
R2 — Core models: Patient, Doctor, Specialty, and Appointment.
R3 — CRM integration, security groups, record rules, and field indexes.
R4 — All backend views, website templates, and patient portal.
R5 — Cron jobs, mail templates, census wizard, and PDF reports.
R6 — REST API, token authentication, and tests.
The project is named smart_clinic — built on Odoo 17 Community.
Our structural reference is the real_estate module."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clinic.appointment قلب النظام. clinic.charge الفاتورة. clinic.lab_order analog لـ maintenance.request في real_estate.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checked_in state مستقل مطلوب في الـ requirements — مش بيروح مباشرة لـ in_progress.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email field فيه _sql_constraints UNIQUE و@api.constrains للـ regex. user_id بيربط المريض والدكتور ببورتال Odoo.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الـ constraints دي Python code على مستوى الـ model — حتى لو اتبعت API request مباشرةً، الـ validation هيشتغل.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inheritance على crm.lead — مش بنعمل model جديد. الريسبشن يضغط Convert Lead فبيتحول لمريض وموعد في نفس الوقت.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hierarchy: Receptionist &lt; Doctor &lt; Manager. record rule على الدكتور: doctor_id.user_id = user.id. على المريض (portal): patient_id.user_id = user.id.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clinic.lab_order analog لـ maintenance.request. duration_days مطلوب في requirements. urgency من low لـ emergency.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clinic.charge قلب الفوترة. payment_status computed بيعمل mirror لـ lease.payment_status في real_estate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البورتال بيعتمد على patient.user_id. الـ REST API بيستخدم clinic.api_token. xlsxwriter external_dependency في الـ manifest.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-1097280" y="2926080"/>
            <a:ext cx="3474720" cy="3474720"/>
          </a:xfrm>
          <a:prstGeom prst="ellipse">
            <a:avLst/>
          </a:prstGeom>
          <a:solidFill>
            <a:srgbClr val="005088">
              <a:alpha val="12000"/>
            </a:srgbClr>
          </a:solidFill>
          <a:ln w="12700">
            <a:solidFill>
              <a:srgbClr val="0050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day, a clinic loses</a:t>
            </a:r>
            <a:endParaRPr lang="en-US" sz="4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— data — patients.</a:t>
            </a:r>
            <a:endParaRPr lang="en-US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926080" y="3383280"/>
            <a:ext cx="32918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457200" y="35478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solution.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44074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Clinic Management System  |  Odoo 17 Community  |  Team 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502920" y="8229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ODOO MODULE  |  HEALTHCARE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Clinic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· Secure · Integrated Odoo Module for Modern Healthcare Operations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50292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Implementation Blueprint  |  Odoo 17 Community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  —  Smart Clinic  | 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39" y="1110996"/>
            <a:ext cx="8366761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Details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39" y="1591056"/>
            <a:ext cx="8366761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457200" y="159105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5910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Clinic Management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38" y="2080260"/>
            <a:ext cx="836676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457200" y="20894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08940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smart_clinic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39" y="2587752"/>
            <a:ext cx="83667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457200" y="25877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799" y="2587752"/>
            <a:ext cx="365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39" y="3086100"/>
            <a:ext cx="8366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457200" y="30861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0861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17 Community Edition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39" y="3584448"/>
            <a:ext cx="83667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35844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 —  6 Students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39" y="4082796"/>
            <a:ext cx="8366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ar-EG"/>
          </a:p>
        </p:txBody>
      </p:sp>
      <p:sp>
        <p:nvSpPr>
          <p:cNvPr id="23" name="Text 21"/>
          <p:cNvSpPr/>
          <p:nvPr/>
        </p:nvSpPr>
        <p:spPr>
          <a:xfrm>
            <a:off x="457200" y="40827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40827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11155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90288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defTabSz="914400" rtl="1" eaLnBrk="1" latinLnBrk="0" hangingPunct="1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37760" y="159105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90288" y="21899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37760" y="20894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90288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37760" y="25877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90288" y="31866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37760" y="30861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90288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37760" y="35844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90288" y="4183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defTabSz="914400" rtl="1" eaLnBrk="1" latinLnBrk="0" hangingPunct="1">
              <a:buNone/>
            </a:pP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37760" y="408279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database structure managing clinical operations from reception to billing.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Registry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clinic.patient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patient DB · demographics · email (unique+regex) ·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Directory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clinic.doctor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resource · specialty link · weekday schedule ·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clinic.appointment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State-machine (7 states) · conflict detection · payment_status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clinic.lab_order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tracking · urgency (low→emergency) · results · actual_cost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clinic.prescription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 lines · dosage · frequency · duration_days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Ledger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clinic.charge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billing · line_type · total_amount computed · overdue+late_fee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clinic.api_token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REST auth · token · expiry · active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Interop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crm.lead (inherited)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website bookings → patient + appointment in one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Patient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4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8046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960120" y="2578608"/>
            <a:ext cx="603504" cy="6035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960120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 &amp; Booking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517904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640080" y="1517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draft → confirmed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registers online or walk-in. Slot validity &amp; weekday schedule verified. crm.lead auto-created.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2578608"/>
            <a:ext cx="603504" cy="6035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3108960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06040" y="1115568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2651760" y="1170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88920" y="1517904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2788920" y="1517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→ checked_in ★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06040" y="32918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confirms arrival. Consultation fee collected. clinic.charge created. PDF receipt printed.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57800" y="2578608"/>
            <a:ext cx="603504" cy="6035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Text 19"/>
          <p:cNvSpPr/>
          <p:nvPr/>
        </p:nvSpPr>
        <p:spPr>
          <a:xfrm>
            <a:off x="5257800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115568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3" name="Text 21"/>
          <p:cNvSpPr/>
          <p:nvPr/>
        </p:nvSpPr>
        <p:spPr>
          <a:xfrm>
            <a:off x="4800600" y="1170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1517904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Text 23"/>
          <p:cNvSpPr/>
          <p:nvPr/>
        </p:nvSpPr>
        <p:spPr>
          <a:xfrm>
            <a:off x="4937760" y="1517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→ in_progress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32918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examines. Issues clinic.prescription &amp; clinic.lab_order. Audit trail logged on every edit.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06640" y="2578608"/>
            <a:ext cx="603504" cy="6035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6"/>
          <p:cNvSpPr/>
          <p:nvPr/>
        </p:nvSpPr>
        <p:spPr>
          <a:xfrm>
            <a:off x="7406640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03720" y="1115568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6949440" y="1170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Discharge &amp; Pay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86600" y="1517904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30"/>
          <p:cNvSpPr/>
          <p:nvPr/>
        </p:nvSpPr>
        <p:spPr>
          <a:xfrm>
            <a:off x="7086600" y="1517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→ done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03720" y="32918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billing settled at reception. payment_status=paid. Prescription PDF auto-printed.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Relations &amp; Fields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5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0233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429768" y="111556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clinic.patient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name, email (unique · regex @api.constrains)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date_of_birth  →  age (computed non-stored)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gender, blood_type (Selection)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allergies, image_1920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phone, mobile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user_id  →  M2O res.users (portal login)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_sql_constraints: UNIQUE(email)  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4800600" y="1115568"/>
            <a:ext cx="4023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4910328" y="111556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clinic.doctor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82496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name, license_number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specialty_id  →  M2O clinic.specialty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user_id  →  M2O res.users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consultation_fee  (Float)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weekday_schedule  (Char / Selection)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image active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today_appointment_count (computed)  ★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Zero-Conflict Scheduling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6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926080" cy="29260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Double-Booking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Prevention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143000"/>
            <a:ext cx="48463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4114800" y="1216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 Time Overlap Check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56362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@api.constrains validates no two active appointments share the same doctor + time range.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2377440"/>
            <a:ext cx="48463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4114800" y="2450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 Weekday Availability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79806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rejected if appointment day doesn't match doctor's weekday_schedule field.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3611880"/>
            <a:ext cx="48463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4114800" y="3685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🔢  start_time &lt; end_time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403250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 — end time must be after start time. duration_minutes auto-computed.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Seamless CRM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bookings automatically create a native crm.lead record.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marketing pipeline separate from the clinical database.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"Convert Lead" button → patient record + appointment in one click.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lead_source tracks origin: website · API · manual entry.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inheritance on crm.lead — adds specialty_id, patient_id, appointment_id.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143000"/>
            <a:ext cx="3474720" cy="694944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120640" y="114300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Booking 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03136" y="1837944"/>
            <a:ext cx="109728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6675120" y="2002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2103120"/>
            <a:ext cx="3474720" cy="694944"/>
          </a:xfrm>
          <a:prstGeom prst="roundRect">
            <a:avLst>
              <a:gd name="adj" fmla="val 10526"/>
            </a:avLst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5120640" y="210312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crm.lead  (lead_source=website)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03136" y="2798064"/>
            <a:ext cx="109728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6675120" y="29626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3063240"/>
            <a:ext cx="3474720" cy="694944"/>
          </a:xfrm>
          <a:prstGeom prst="roundRect">
            <a:avLst>
              <a:gd name="adj" fmla="val 1052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5120640" y="306324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Lead  →  Button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03136" y="3758184"/>
            <a:ext cx="109728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6675120" y="3922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4023360"/>
            <a:ext cx="3474720" cy="694944"/>
          </a:xfrm>
          <a:prstGeom prst="roundRect">
            <a:avLst>
              <a:gd name="adj" fmla="val 1052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5120640" y="402336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clinic.patient + clinic.appointment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Multi-Tier Security &amp; Compliance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8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777240" y="11338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group_clinic_manager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0" y="113385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System-wide Admin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Full visibility · audit logs · financial control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63040" y="2249424"/>
            <a:ext cx="6217920" cy="1005840"/>
          </a:xfrm>
          <a:prstGeom prst="roundRect">
            <a:avLst>
              <a:gd name="adj" fmla="val 7273"/>
            </a:avLst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1600200" y="23042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651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group_doctor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49040" y="2304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Medical Records R/W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29077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Row-level: only sees OWN appointments via doctor_id.user_id = user.id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0" y="3419856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2423160" y="3474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Receptionist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23160" y="3822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group_receptionist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3474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Patient &amp; Appts CRUD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40782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All active patient contact records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590288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Text 19"/>
          <p:cNvSpPr/>
          <p:nvPr/>
        </p:nvSpPr>
        <p:spPr>
          <a:xfrm>
            <a:off x="502920" y="45902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Field-Level Security: allergies &amp; medical_history visible to group_doctor+ only — hidden from Receptionist.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 and Prescriptions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9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0233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11155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clinic.lab_order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1591056"/>
            <a:ext cx="4023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429768" y="1700784"/>
            <a:ext cx="376732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  →  sequence LAB/0001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appointment_id  (M2O link)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test_type  (Selection)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urgency: low / medium / high / emergency  ★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state: draft→ordered→in_progress→done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result  (Text — lab tech enters)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ordered_date,  completed_date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actual_cost  (Float)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00600" y="1115568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2" name="Shape 9"/>
          <p:cNvSpPr/>
          <p:nvPr/>
        </p:nvSpPr>
        <p:spPr>
          <a:xfrm>
            <a:off x="4800600" y="1115568"/>
            <a:ext cx="4023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887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30952" y="11155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clinic.prescription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00600" y="1591056"/>
            <a:ext cx="4023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2"/>
          <p:cNvSpPr/>
          <p:nvPr/>
        </p:nvSpPr>
        <p:spPr>
          <a:xfrm>
            <a:off x="4910328" y="1700784"/>
            <a:ext cx="376732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  →  sequence RX/0001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appointment_id  (One2many)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medication_name  (Char)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dosage  (Char)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frequency  (Char)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duration_days  (Integer)  ★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notes  (Text)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mail.thread inheritance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Charge Breakdown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10 / 12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4114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1430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4663440" y="1234440"/>
            <a:ext cx="777240" cy="86868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4663440" y="123444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45%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57784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Consultation Fee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77840" y="1600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Auto-linked on check-in via clinic.charge (line_type=consultation)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2331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2" name="Shape 9"/>
          <p:cNvSpPr/>
          <p:nvPr/>
        </p:nvSpPr>
        <p:spPr>
          <a:xfrm>
            <a:off x="4663440" y="2423160"/>
            <a:ext cx="777240" cy="868680"/>
          </a:xfrm>
          <a:prstGeom prst="roundRect">
            <a:avLst>
              <a:gd name="adj" fmla="val 7059"/>
            </a:avLst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4663440" y="242316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35%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57784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Orders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7784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at reception from clinic.lab_order.actual_cost after consultation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35204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7" name="Shape 14"/>
          <p:cNvSpPr/>
          <p:nvPr/>
        </p:nvSpPr>
        <p:spPr>
          <a:xfrm>
            <a:off x="4663440" y="3611880"/>
            <a:ext cx="777240" cy="868680"/>
          </a:xfrm>
          <a:prstGeom prst="roundRect">
            <a:avLst>
              <a:gd name="adj" fmla="val 705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4663440" y="361188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20%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57784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7784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per medication line — billed as separate clinic.charge records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4645152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19"/>
          <p:cNvSpPr/>
          <p:nvPr/>
        </p:nvSpPr>
        <p:spPr>
          <a:xfrm>
            <a:off x="4663440" y="46451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payment_status: current · upcoming · overdue  →  late_fee auto-applied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Portal &amp; Mobile API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11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1234440" y="1298448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3560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Portal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670048"/>
            <a:ext cx="25603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411480" y="2761488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/my/appointments — secure dashboard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history &amp; upcoming appointments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prescriptions &amp; lab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charge status (paid/overdue)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CustomerPortal subclass in Odoo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2" name="Shape 9"/>
          <p:cNvSpPr/>
          <p:nvPr/>
        </p:nvSpPr>
        <p:spPr>
          <a:xfrm>
            <a:off x="4160520" y="1298448"/>
            <a:ext cx="822960" cy="822960"/>
          </a:xfrm>
          <a:prstGeom prst="ellipse">
            <a:avLst/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435608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REST API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91840" y="2670048"/>
            <a:ext cx="25603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2"/>
          <p:cNvSpPr/>
          <p:nvPr/>
        </p:nvSpPr>
        <p:spPr>
          <a:xfrm>
            <a:off x="3337560" y="2761488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/api/clinic/login → session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/api/clinic/appointments/create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/api/clinic/doctors/&lt;id&gt;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/api/clinic/appointments/list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clinic.api_token model for auth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143000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8" name="Shape 14"/>
          <p:cNvSpPr/>
          <p:nvPr/>
        </p:nvSpPr>
        <p:spPr>
          <a:xfrm>
            <a:off x="7086600" y="1298448"/>
            <a:ext cx="822960" cy="822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435608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On-Demand Exports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17920" y="2670048"/>
            <a:ext cx="25603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17"/>
          <p:cNvSpPr/>
          <p:nvPr/>
        </p:nvSpPr>
        <p:spPr>
          <a:xfrm>
            <a:off x="6263640" y="2761488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daily.census.wizard (Excel)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+ specialty filter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xlsxwriter via excel_controller.py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report_appointment_slip (PDF)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report_medical_record (PDF)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Smart Clinic Delivers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670048" cy="1755648"/>
          </a:xfrm>
          <a:prstGeom prst="roundRect">
            <a:avLst>
              <a:gd name="adj" fmla="val 3125"/>
            </a:avLst>
          </a:prstGeom>
          <a:solidFill>
            <a:srgbClr val="1E2A45">
              <a:alpha val="90000"/>
            </a:srgbClr>
          </a:solidFill>
          <a:ln w="12700">
            <a:solidFill>
              <a:srgbClr val="33415F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512064" y="13350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🗓️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33502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Zero-Conflict Scheduling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" y="1737360"/>
            <a:ext cx="23774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doctor availability and working hours in real time before any appointment is confirmed. Double bookings are eliminated.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2670048" cy="1755648"/>
          </a:xfrm>
          <a:prstGeom prst="roundRect">
            <a:avLst>
              <a:gd name="adj" fmla="val 3125"/>
            </a:avLst>
          </a:prstGeom>
          <a:solidFill>
            <a:srgbClr val="1E2A45">
              <a:alpha val="90000"/>
            </a:srgbClr>
          </a:solidFill>
          <a:ln w="12700">
            <a:solidFill>
              <a:srgbClr val="33415F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3346704" y="13350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30752" y="133502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Billing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46704" y="1737360"/>
            <a:ext cx="23774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Consultation, lab charges flow into one unified invoice automatically — with overdue tracking and late fees.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70048" cy="1755648"/>
          </a:xfrm>
          <a:prstGeom prst="roundRect">
            <a:avLst>
              <a:gd name="adj" fmla="val 3125"/>
            </a:avLst>
          </a:prstGeom>
          <a:solidFill>
            <a:srgbClr val="1E2A45">
              <a:alpha val="90000"/>
            </a:srgbClr>
          </a:solidFill>
          <a:ln w="12700">
            <a:solidFill>
              <a:srgbClr val="3341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6181344" y="13350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65392" y="133502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81344" y="1737360"/>
            <a:ext cx="23774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see only their own patients. Receptionists can't view sensitive history. Field and record-level access fully controlled.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127248"/>
            <a:ext cx="2670048" cy="1755648"/>
          </a:xfrm>
          <a:prstGeom prst="roundRect">
            <a:avLst>
              <a:gd name="adj" fmla="val 3125"/>
            </a:avLst>
          </a:prstGeom>
          <a:solidFill>
            <a:srgbClr val="1E2A45">
              <a:alpha val="90000"/>
            </a:srgbClr>
          </a:solidFill>
          <a:ln w="12700">
            <a:solidFill>
              <a:srgbClr val="3341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512064" y="32552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325526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&amp; 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" y="3657600"/>
            <a:ext cx="23774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track appointments, lab results, and invoices online. A full REST API with token auth enables external integrations.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0" y="3127248"/>
            <a:ext cx="2670048" cy="1755648"/>
          </a:xfrm>
          <a:prstGeom prst="roundRect">
            <a:avLst>
              <a:gd name="adj" fmla="val 3125"/>
            </a:avLst>
          </a:prstGeom>
          <a:solidFill>
            <a:srgbClr val="1E2A45">
              <a:alpha val="90000"/>
            </a:srgbClr>
          </a:solidFill>
          <a:ln w="12700">
            <a:solidFill>
              <a:srgbClr val="3341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3346704" y="32552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30752" y="325526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46704" y="3657600"/>
            <a:ext cx="23774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bookings automatically become CRM leads. One click converts a lead into a patient with a scheduled appointment.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3127248"/>
            <a:ext cx="2670048" cy="1755648"/>
          </a:xfrm>
          <a:prstGeom prst="roundRect">
            <a:avLst>
              <a:gd name="adj" fmla="val 3125"/>
            </a:avLst>
          </a:prstGeom>
          <a:solidFill>
            <a:srgbClr val="1E2A45">
              <a:alpha val="90000"/>
            </a:srgbClr>
          </a:solidFill>
          <a:ln w="12700">
            <a:solidFill>
              <a:srgbClr val="3341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6" name="Text 24"/>
          <p:cNvSpPr/>
          <p:nvPr/>
        </p:nvSpPr>
        <p:spPr>
          <a:xfrm>
            <a:off x="6181344" y="32552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65392" y="325526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Referral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08976" y="3273552"/>
            <a:ext cx="768096" cy="182880"/>
          </a:xfrm>
          <a:prstGeom prst="roundRect">
            <a:avLst>
              <a:gd name="adj" fmla="val 150000"/>
            </a:avLst>
          </a:prstGeom>
          <a:solidFill>
            <a:srgbClr val="7C2D1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9" name="Text 27"/>
          <p:cNvSpPr/>
          <p:nvPr/>
        </p:nvSpPr>
        <p:spPr>
          <a:xfrm>
            <a:off x="7808976" y="327355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3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181344" y="3657600"/>
            <a:ext cx="23774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from the doctor's page sends the hospital an urgent email with the case report — asking about bed or slot availability.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1802</Words>
  <Application>Microsoft Macintosh PowerPoint</Application>
  <PresentationFormat>عرض على الشاشة (16:9)</PresentationFormat>
  <Paragraphs>231</Paragraphs>
  <Slides>13</Slides>
  <Notes>12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Clinic Management System</dc:title>
  <dc:subject>PptxGenJS Presentation</dc:subject>
  <dc:creator>PptxGenJS</dc:creator>
  <cp:lastModifiedBy>Ahmed Nady Ramadan Mohamed</cp:lastModifiedBy>
  <cp:revision>6</cp:revision>
  <dcterms:created xsi:type="dcterms:W3CDTF">2026-06-28T18:34:00Z</dcterms:created>
  <dcterms:modified xsi:type="dcterms:W3CDTF">2026-06-30T00:55:46Z</dcterms:modified>
</cp:coreProperties>
</file>